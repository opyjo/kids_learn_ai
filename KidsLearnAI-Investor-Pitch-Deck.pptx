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6b16cac6a45ba" /><Relationship Type="http://schemas.openxmlformats.org/officeDocument/2006/relationships/extended-properties" Target="/docProps/app.xml" Id="Rf410425b1dc94388" /><Relationship Type="http://schemas.openxmlformats.org/officeDocument/2006/relationships/officeDocument" Target="/ppt/presentation.xml" Id="Raec562fd71eb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c2af5bea2441db"/>
  </p:sldMasterIdLst>
  <p:notesMasterIdLst>
    <p:notesMasterId xmlns:r="http://schemas.openxmlformats.org/officeDocument/2006/relationships" r:id="R9bb7b4d7937347da"/>
  </p:notesMasterIdLst>
  <p:sldIdLst>
    <p:sldId xmlns:r="http://schemas.openxmlformats.org/officeDocument/2006/relationships" id="256" r:id="R41059b4e3c104f28"/>
    <p:sldId xmlns:r="http://schemas.openxmlformats.org/officeDocument/2006/relationships" id="257" r:id="R7e2fe8a9a3a44b7a"/>
    <p:sldId xmlns:r="http://schemas.openxmlformats.org/officeDocument/2006/relationships" id="258" r:id="R0d3c44b86e5c405c"/>
    <p:sldId xmlns:r="http://schemas.openxmlformats.org/officeDocument/2006/relationships" id="259" r:id="R73d9112a73e548a8"/>
    <p:sldId xmlns:r="http://schemas.openxmlformats.org/officeDocument/2006/relationships" id="260" r:id="Rf144eed8a2d4425e"/>
    <p:sldId xmlns:r="http://schemas.openxmlformats.org/officeDocument/2006/relationships" id="261" r:id="R7790e42306ee40e0"/>
    <p:sldId xmlns:r="http://schemas.openxmlformats.org/officeDocument/2006/relationships" id="262" r:id="R36e9ff201e524c12"/>
    <p:sldId xmlns:r="http://schemas.openxmlformats.org/officeDocument/2006/relationships" id="263" r:id="R4396c4b96ea64838"/>
    <p:sldId xmlns:r="http://schemas.openxmlformats.org/officeDocument/2006/relationships" id="264" r:id="R554c6e89921748d4"/>
    <p:sldId xmlns:r="http://schemas.openxmlformats.org/officeDocument/2006/relationships" id="265" r:id="R144f0f3d300e4e6a"/>
    <p:sldId xmlns:r="http://schemas.openxmlformats.org/officeDocument/2006/relationships" id="266" r:id="Rcc46c11dda6f4578"/>
    <p:sldId xmlns:r="http://schemas.openxmlformats.org/officeDocument/2006/relationships" id="267" r:id="R9dbdcd343a9143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5989aca9e4fdc" /><Relationship Type="http://schemas.openxmlformats.org/officeDocument/2006/relationships/slideMaster" Target="/ppt/slideMasters/slideMaster1.xml" Id="R9dc2af5bea2441db" /><Relationship Type="http://schemas.openxmlformats.org/officeDocument/2006/relationships/notesMaster" Target="/ppt/notesMasters/notesMaster1.xml" Id="R9bb7b4d7937347da" /><Relationship Type="http://schemas.openxmlformats.org/officeDocument/2006/relationships/presProps" Target="/ppt/presProps.xml" Id="Rea8148e306c84383" /><Relationship Type="http://schemas.openxmlformats.org/officeDocument/2006/relationships/tableStyles" Target="/ppt/tableStyles.xml" Id="R2815ed7b82b141f1" /><Relationship Type="http://schemas.openxmlformats.org/officeDocument/2006/relationships/slide" Target="/ppt/slides/slide1.xml" Id="R41059b4e3c104f28" /><Relationship Type="http://schemas.openxmlformats.org/officeDocument/2006/relationships/slide" Target="/ppt/slides/slide2.xml" Id="R7e2fe8a9a3a44b7a" /><Relationship Type="http://schemas.openxmlformats.org/officeDocument/2006/relationships/slide" Target="/ppt/slides/slide3.xml" Id="R0d3c44b86e5c405c" /><Relationship Type="http://schemas.openxmlformats.org/officeDocument/2006/relationships/slide" Target="/ppt/slides/slide4.xml" Id="R73d9112a73e548a8" /><Relationship Type="http://schemas.openxmlformats.org/officeDocument/2006/relationships/slide" Target="/ppt/slides/slide5.xml" Id="Rf144eed8a2d4425e" /><Relationship Type="http://schemas.openxmlformats.org/officeDocument/2006/relationships/slide" Target="/ppt/slides/slide6.xml" Id="R7790e42306ee40e0" /><Relationship Type="http://schemas.openxmlformats.org/officeDocument/2006/relationships/slide" Target="/ppt/slides/slide7.xml" Id="R36e9ff201e524c12" /><Relationship Type="http://schemas.openxmlformats.org/officeDocument/2006/relationships/slide" Target="/ppt/slides/slide8.xml" Id="R4396c4b96ea64838" /><Relationship Type="http://schemas.openxmlformats.org/officeDocument/2006/relationships/slide" Target="/ppt/slides/slide9.xml" Id="R554c6e89921748d4" /><Relationship Type="http://schemas.openxmlformats.org/officeDocument/2006/relationships/slide" Target="/ppt/slides/slide10.xml" Id="R144f0f3d300e4e6a" /><Relationship Type="http://schemas.openxmlformats.org/officeDocument/2006/relationships/slide" Target="/ppt/slides/slide11.xml" Id="Rcc46c11dda6f4578" /><Relationship Type="http://schemas.openxmlformats.org/officeDocument/2006/relationships/slide" Target="/ppt/slides/slide12.xml" Id="R9dbdcd343a9143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3c8b129f48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4953b7c6524cf0" /><Relationship Type="http://schemas.openxmlformats.org/officeDocument/2006/relationships/notesMaster" Target="/ppt/notesMasters/notesMaster1.xml" Id="R5ccf2c79900648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42ba7fc094afc" /><Relationship Type="http://schemas.openxmlformats.org/officeDocument/2006/relationships/notesMaster" Target="/ppt/notesMasters/notesMaster1.xml" Id="R82aa934b6087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a829665e304d57" /><Relationship Type="http://schemas.openxmlformats.org/officeDocument/2006/relationships/notesMaster" Target="/ppt/notesMasters/notesMaster1.xml" Id="R0fbae49cb7054a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6a09943cb46b7" /><Relationship Type="http://schemas.openxmlformats.org/officeDocument/2006/relationships/notesMaster" Target="/ppt/notesMasters/notesMaster1.xml" Id="R2d760376624b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adb36b97c340e5" /><Relationship Type="http://schemas.openxmlformats.org/officeDocument/2006/relationships/notesMaster" Target="/ppt/notesMasters/notesMaster1.xml" Id="R9f7ab8f118a344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1062e464d542e7" /><Relationship Type="http://schemas.openxmlformats.org/officeDocument/2006/relationships/notesMaster" Target="/ppt/notesMasters/notesMaster1.xml" Id="Ra282699de5a147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10ebf99fc484e" /><Relationship Type="http://schemas.openxmlformats.org/officeDocument/2006/relationships/notesMaster" Target="/ppt/notesMasters/notesMaster1.xml" Id="R71b29888f679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fa43236da94ef0" /><Relationship Type="http://schemas.openxmlformats.org/officeDocument/2006/relationships/notesMaster" Target="/ppt/notesMasters/notesMaster1.xml" Id="R155f172f6ed449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7c0c8ceda4c77" /><Relationship Type="http://schemas.openxmlformats.org/officeDocument/2006/relationships/notesMaster" Target="/ppt/notesMasters/notesMaster1.xml" Id="Rb4ca27e453b64c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ccecd3aa074479" /><Relationship Type="http://schemas.openxmlformats.org/officeDocument/2006/relationships/notesMaster" Target="/ppt/notesMasters/notesMaster1.xml" Id="Raa84395a86c24f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581d9c06c4b43" /><Relationship Type="http://schemas.openxmlformats.org/officeDocument/2006/relationships/notesMaster" Target="/ppt/notesMasters/notesMaster1.xml" Id="R4f61fe86b2bf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f1b17167114392" /><Relationship Type="http://schemas.openxmlformats.org/officeDocument/2006/relationships/notesMaster" Target="/ppt/notesMasters/notesMaster1.xml" Id="R9188dec95fa3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mission in one sentence. KidsLearnAI begins with live Canadian cohorts and is designed to grow into a trusted AI-literacy learning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 — public product positioning and age range</a:t>
            </a:r>
          </a:p>
          <a:p xmlns:a="http://schemas.openxmlformats.org/drawingml/2006/main">
            <a:r>
              <a:t>- Internal asset: public/images/student-coding.png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the parent’s job-to-be-done: safe, live, confidence-building progression—not merely access to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https://www.unesco.org/en/articles/ai-competency-framework-students?hub=195885 — responsible and creative student AI competencies</a:t>
            </a:r>
          </a:p>
          <a:p xmlns:a="http://schemas.openxmlformats.org/drawingml/2006/main">
            <a:r>
              <a:t>- https://www.kidslearnai.ca/about — KidsLearnAI mission and parent problem framing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1.93 million figure is the exact sum of Statistics Canada’s 2023/2024 public-school counts for ages 9, 10, 11, 12 and 13. Ontario also introduces coding concepts from Grade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https://www150.statcan.gc.ca/t1/tbl1/en/tv.action?pid=3710001901&amp;request_locale=en — 2023/2024 enrolment by age</a:t>
            </a:r>
          </a:p>
          <a:p xmlns:a="http://schemas.openxmlformats.org/drawingml/2006/main">
            <a:r>
              <a:t>- https://ised-isde.canada.ca/site/ised/en/programs-and-initiatives/cancode/cancode-program-2026-2028-applicant-guide — up to CAD $30M</a:t>
            </a:r>
          </a:p>
          <a:p xmlns:a="http://schemas.openxmlformats.org/drawingml/2006/main">
            <a:r>
              <a:t>- https://www.unesco.org/en/articles/ai-competency-framework-students?hub=195885 — 12 competencies</a:t>
            </a:r>
          </a:p>
          <a:p xmlns:a="http://schemas.openxmlformats.org/drawingml/2006/main">
            <a:r>
              <a:t>- https://www.ontario.ca/page/math-curriculum-grades-1-8 — coding in the Ontario curriculum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combination. The instructor creates trust and feedback; the platform creates consistency, practice and operating leverage.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 — live classes, free first class and product experience</a:t>
            </a:r>
          </a:p>
          <a:p xmlns:a="http://schemas.openxmlformats.org/drawingml/2006/main">
            <a:r>
              <a:t>- Internal asset: public/images/teacher-student.png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curriculum contains eight terms in Year 1 and eight terms in Year 2. This supports term-by-term purchasing without forcing a long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 — public curriculum journey</a:t>
            </a:r>
          </a:p>
          <a:p xmlns:a="http://schemas.openxmlformats.org/drawingml/2006/main">
            <a:r>
              <a:t>- Internal source: components/home/CurriculumPathSection.tsx — 16-term pathway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the September funnel as historical traction. It is the explicit next validation target. Replace this slide with actual cohort metrics as soon as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 — live public funnel and product</a:t>
            </a:r>
          </a:p>
          <a:p xmlns:a="http://schemas.openxmlformats.org/drawingml/2006/main">
            <a:r>
              <a:t>- Internal source: repository product modules and lib/marketing/seo-campaign-tasks.ts — September targets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CAD $159.99 founding price is current. CAD $600 annual learner revenue is an assumption equal to three terms at approximately CAD $200. Institutional pricing remains to be validated.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https://www.kidslearnai.ca/pricing — current founding offer</a:t>
            </a:r>
          </a:p>
          <a:p xmlns:a="http://schemas.openxmlformats.org/drawingml/2006/main">
            <a:r>
              <a:t>- Internal planning assumption: three terms per year at approximately CAD $200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market-capture scenario, not a forecast. It uses 1,926,207 Canadian public-school students ages 9–13 and an assumed CAD $600 annual revenue per learner. The three scenarios equal approximately 963, 4,816 and 19,262 learners.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https://www150.statcan.gc.ca/t1/tbl1/en/tv.action?pid=3710001901&amp;request_locale=en — target-age student count</a:t>
            </a:r>
          </a:p>
          <a:p xmlns:a="http://schemas.openxmlformats.org/drawingml/2006/main">
            <a:r>
              <a:t>- Internal assumption: CAD $600 annual revenue per learner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September plan prioritizes warm families and partner workshops before broad paid acquisition. The key operating metrics are reservation source, attendance, trial-to-paid conversion, retention and referrals.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lib/marketing/seo-campaign-tasks.ts — growth plan and September sprint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category comparison based on common delivery models, not an audited claim about every provider. Use it to explain the integrated position and then discuss specific competitors in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 — KidsLearnAI capabilities</a:t>
            </a:r>
          </a:p>
          <a:p xmlns:a="http://schemas.openxmlformats.org/drawingml/2006/main">
            <a:r>
              <a:t>- Management comparison of common alternatives; validate named competitors before external circulation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founder story practical: Opeyemi has built the platform and teaches the customer directly. The next team additions should reduce founder dependence through instructor enablement, curriculum operations and growth partnerships.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https://www.kidslearnai.ca/about — founder name, role, story and Brightwick reference</a:t>
            </a:r>
          </a:p>
          <a:p xmlns:a="http://schemas.openxmlformats.org/drawingml/2006/main">
            <a:r>
              <a:t>- Internal asset: public/images/opeyemi-ojo-founder.jpg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financing plan, not a committed round. Suggested use of funds: 35% curriculum and instructor enablement, 30% product and data, 25% growth and partnerships, and 10% operations, safety and legal. Refine the ask after validating the September cohort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assumptions prepared for this investor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223884e684c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b4f94f724451a" /><Relationship Type="http://schemas.openxmlformats.org/officeDocument/2006/relationships/slideLayout" Target="/ppt/slideLayouts/slideLayout1.xml" Id="R67174842ab74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174842ab74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8561f2ca3476a" /><Relationship Type="http://schemas.openxmlformats.org/officeDocument/2006/relationships/image" Target="/ppt/media/image.png" Id="Rfdc82b29657b44e2" /><Relationship Type="http://schemas.openxmlformats.org/officeDocument/2006/relationships/notesSlide" Target="/ppt/notesSlides/notesSlide1.xml" Id="R30febb4ec9354f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2eed88ea4bc0" /><Relationship Type="http://schemas.openxmlformats.org/officeDocument/2006/relationships/notesSlide" Target="/ppt/notesSlides/notesSlide2.xml" Id="R4e5042a9b3c8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ce2c7c75f409c" /><Relationship Type="http://schemas.openxmlformats.org/officeDocument/2006/relationships/notesSlide" Target="/ppt/notesSlides/notesSlide3.xml" Id="Rdcf498d3bdd04e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3f9a9ad054381" /><Relationship Type="http://schemas.openxmlformats.org/officeDocument/2006/relationships/image" Target="/ppt/media/image2.png" Id="R6e2c2a6c721449ee" /><Relationship Type="http://schemas.openxmlformats.org/officeDocument/2006/relationships/notesSlide" Target="/ppt/notesSlides/notesSlide4.xml" Id="R680046b7e85c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ffe1d3b234806" /><Relationship Type="http://schemas.openxmlformats.org/officeDocument/2006/relationships/notesSlide" Target="/ppt/notesSlides/notesSlide5.xml" Id="R1d60139bf10a45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10217e5e54ff3" /><Relationship Type="http://schemas.openxmlformats.org/officeDocument/2006/relationships/notesSlide" Target="/ppt/notesSlides/notesSlide6.xml" Id="Rf0f4a727b864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678be6b04cdf" /><Relationship Type="http://schemas.openxmlformats.org/officeDocument/2006/relationships/notesSlide" Target="/ppt/notesSlides/notesSlide7.xml" Id="Reb8c46c16045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1452a548148c3" /><Relationship Type="http://schemas.openxmlformats.org/officeDocument/2006/relationships/chart" Target="/ppt/slides/charts/chart1.xml" Id="R2c7badb28d734c64" /><Relationship Type="http://schemas.openxmlformats.org/officeDocument/2006/relationships/chart" Target="/ppt/slides/charts/chart2.xml" Id="R8d8868e06ac44115" /><Relationship Type="http://schemas.openxmlformats.org/officeDocument/2006/relationships/notesSlide" Target="/ppt/notesSlides/notesSlide8.xml" Id="Rfdb78b5cced2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4ea05cd7043e2" /><Relationship Type="http://schemas.openxmlformats.org/officeDocument/2006/relationships/notesSlide" Target="/ppt/notesSlides/notesSlide9.xml" Id="R25ffcbcac4b240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c76ac868140ca" /><Relationship Type="http://schemas.openxmlformats.org/officeDocument/2006/relationships/notesSlide" Target="/ppt/notesSlides/notesSlide10.xml" Id="Rb22fc4d15a1248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54041111b4d30" /><Relationship Type="http://schemas.openxmlformats.org/officeDocument/2006/relationships/image" Target="/ppt/media/image.jpeg" Id="Rf20bca33240e4615" /><Relationship Type="http://schemas.openxmlformats.org/officeDocument/2006/relationships/notesSlide" Target="/ppt/notesSlides/notesSlide11.xml" Id="R19eb3759fac946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930365f7d4084" /><Relationship Type="http://schemas.openxmlformats.org/officeDocument/2006/relationships/notesSlide" Target="/ppt/notesSlides/notesSlide12.xml" Id="R843782bfab1141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revenue (CAD $M)</c:v>
          </c:tx>
          <c:spPr>
            <a:solidFill xmlns:a="http://schemas.openxmlformats.org/drawingml/2006/main">
              <a:srgbClr val="1565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0EDF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538D"/>
              </a:solidFill>
            </c:spPr>
          </c:dPt>
          <c:cat>
            <c:strLit>
              <c:ptCount val="3"/>
              <c:pt idx="0">
                <c:v>0.05%</c:v>
              </c:pt>
              <c:pt idx="1">
                <c:v>0.25%</c:v>
              </c:pt>
              <c:pt idx="2">
                <c:v>1.0%</c:v>
              </c:pt>
            </c:strLit>
          </c:cat>
          <c:val>
            <c:numLit>
              <c:formatCode>$0.0M</c:formatCode>
              <c:ptCount val="3"/>
              <c:pt idx="0">
                <c:v>0.58</c:v>
              </c:pt>
              <c:pt idx="1">
                <c:v>2.89</c:v>
              </c:pt>
              <c:pt idx="2">
                <c:v>11.56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/>
                  <a:t>Share of target-age students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$0.0M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3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1C8CAB2-F4D6-44EB-8870-C5F2AAA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5C9E622-3539-411D-ACFC-0811F69C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KIDS LEARN AI  •  INVESTOR DECK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938A843-D4AF-4501-B734-ACC49BA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A9F9101-2827-4C9B-B694-9265EDC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Kids shouldn’t just use AI.
They should understand and build it.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Live Python + responsible AI learning for Canadian kids ages 9–13
Opeyemi Ojo  •  Founder &amp; Lead Instructor  •  kidslearnai.ca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2b29657b44e2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371381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6104562-34E1-495E-9306-0B3F5D8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4741EC-F858-4C91-9F5D-71E1AC4F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Children meet AI before they learn how to question it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F4045FD-DE87-40A2-9037-380F646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AI exposure is growing.
Understanding is not.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CC810AA-FCDC-4891-AD2E-A510CDBC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Self-paced content loses beginners when errors appear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45A4E85-4DD9-4326-ACE9-955A617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705A496C-9BBF-41BA-BDE5-E7774FC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Parents need more than another screen. They need a trusted instructor who can help a beginner get unstuck, explain how AI works, and model safe judgment.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Today’s alternatives solve only part of that job.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88BA44F-E14D-4495-97F2-217E9B3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General coding programs rarely teach AI judgment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D86228FF-DF1D-4907-937F-360FEB6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A7EBFBFE-A476-45E8-866E-426BA355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School exposure varies and feedback is limited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8F33F21-9164-40C5-9B86-231A3CD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D164266-5CF3-4C96-889D-A732BEF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Safety, bias and privacy need guided practice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45C81482-F737-424C-BBB1-DA6CC99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C16D6C71-567A-49DE-BE67-EEEB257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Parents lack a clear pathway from curiosity to capability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8EEDF940-2F62-4F62-A4AB-B954A454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1848469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29CCDF9-28DE-42EF-B4A8-9C9824A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912AB2E-CFB2-46D9-95F8-CC70FC9E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45F40F1-0D75-4E03-A741-7E0D98B7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28E1296-C4A9-487C-8204-1B38672D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3E455DB-B78C-4546-916C-2968D47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literacy is becoming infrastructure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1CA2362-AF5A-4626-B80D-C43AFAD0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Canadian public-school students ages 9–13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965017F-CFC4-47FA-92C6-EB8EC8C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UNESCO student AI competencies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755EB70-EDE1-457F-92A9-42F4760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CanCode investment planned for 2026–2028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CEC1D74-71E4-4D59-9225-BFC94A94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1.93M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B5787FE-844A-40CB-9DC9-B2B5982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$30M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88EA4CF-BD02-4728-B6AB-96A279E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A6E618F-C78F-40A4-ADE5-00EEBAA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The policy, curriculum and demographic signals now align.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Canada is investing in youth AI skills while global education frameworks increasingly define responsible AI as a core student competency.</a:t>
            </a:r>
          </a:p>
        </p:txBody>
      </p:sp>
    </p:spTree>
    <p:extLst>
      <p:ext uri="{BB962C8B-B14F-4D97-AF65-F5344CB8AC3E}">
        <p14:creationId xmlns:p14="http://schemas.microsoft.com/office/powerpoint/2010/main" val="20716286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EA21AD1-230B-4A7D-9C4C-B7D8A1E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DBD4CE9-A493-41E3-8C70-78A9BAA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Human-led AI learning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7A89CEC-82D2-4A06-8BB7-9A4146D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85BF594-B704-40F7-A3C4-6EC3A776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Live small groups.
Python first.
Responsible AI throughout.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free first class lowers risk. Guided projects build skill. Parent-visible progression turns one term into a multi-year pathway.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c2a6c721449ee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832794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90985CD-BF02-47D8-9480-C26A284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01219C7-5DC0-4BAD-928C-F221104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two-year pathway compounds learning and customer value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3BEF2BB-150C-44AB-A417-69F2E55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B9141AE-F01B-4757-8B73-64FC17CF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B5F5C5B-7203-4F78-972E-CD07F778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877545A-0AB0-4807-80EF-15B748B5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01  ENTER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66A8FA6-2D49-4990-BCF2-01FFCD7C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02  BUILD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F9E182B-D53E-4B30-A233-8D121BBC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03  CREATE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B8C664C-27EA-440A-8441-4267025C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Foundations to AI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Loops, logic and games
Data and AI concepts
Projects every term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FF9D40A-46BC-43AB-8E69-8F547522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Python win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Free first class
Beginner-friendly code
Confidence to continue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0530A31-2A91-4503-9D6C-1E3D40E9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Applied creation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Functions and APIs
Visualization and AI
Capstone portfolio</a:t>
            </a:r>
          </a:p>
        </p:txBody>
      </p:sp>
    </p:spTree>
    <p:extLst>
      <p:ext uri="{BB962C8B-B14F-4D97-AF65-F5344CB8AC3E}">
        <p14:creationId xmlns:p14="http://schemas.microsoft.com/office/powerpoint/2010/main" val="9446217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537BD8-E57F-44AD-801D-70135178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DDB2649-7E4B-43C5-B3B4-9359A5CA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Built now. September tests repeatable demand.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B25EC57-F090-4CE0-884B-F7605FA3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FD496F8-85FD-4752-B736-5FE80E59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BUILT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83B76CE-082C-4010-A58B-0E992564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Two-year curriculum + live workflow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tutors, labs, games and adaptive practice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Family accounts, scheduling and analytics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7CC7480-DA31-4551-8FEA-7A4D55F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2B10E8A-961B-4192-B202-171110E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7043"/>
                </a:solidFill>
                <a:latin typeface="Helvetica Neue"/>
                <a:ea typeface="Helvetica Neue"/>
                <a:cs typeface="Helvetica Neue"/>
              </a:rPr>
              <a:t>VALIDATE NEXT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E6B7AA3-AA99-4F47-A3CA-ACFCD1F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 trial reservations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35 attended trials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14–18 paid September enrollments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AC83BF7-A5EF-4FD3-B907-462A7A7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A working product, not a slideware concept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public funnel, two-year curriculum, student learning platform and admin operations are live. The next cohort is the commercial measurement event.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07796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0A567D1-6755-4332-84D1-44AD7FE1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92CB50D9-FF1F-48DE-974D-0A903031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learner can grow from a trial into a multi-year relationship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1F9FECDE-8B60-43FA-A2F2-DA324B66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1FC77D11-51AD-4FEC-ADBE-AA9206F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Founding term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B68D39EE-2031-4A5A-A473-14BE690F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$159.99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44FE7FEE-98AF-4F5D-95D5-4055C1FE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/ term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6D3E1392-501A-4086-9162-2187AA5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CC4F5C4C-5E03-4A68-B41C-AE63AACE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Annual pathway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Families progress term-by-term across a two-year curriculum, increasing retention and learner value.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3CEAC78-F439-451F-A9B1-BF028DA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Planning assumption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9F9A9E34-A7A3-4302-AEBB-639DC51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$600+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4D3B7D7-7DC8-468C-BD11-E0D4C40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/ learner-year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1552934E-BD28-4CFC-8623-FFF0FA4A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79E1CC47-7A7A-46A0-BEB5-36B10CA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Institutional distribution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Libraries, schools, nonprofits and sponsors extend reach through workshops, pilots and future licensing.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89732958-AB69-4250-AF87-A56F760F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Partner pricing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DD085B1D-E159-4812-A38D-DC3A1A97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1887126D-BDBB-451F-A637-FC82A2F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then license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6079C880-6192-4A51-ABA6-3D1D8858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D2C cohort terms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8–10 weeks of live instruction, projects and platform access. The free first class is the conversion event.</a:t>
            </a:r>
          </a:p>
        </p:txBody>
      </p:sp>
    </p:spTree>
    <p:extLst>
      <p:ext uri="{BB962C8B-B14F-4D97-AF65-F5344CB8AC3E}">
        <p14:creationId xmlns:p14="http://schemas.microsoft.com/office/powerpoint/2010/main" val="20798880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ACD7A51-D9DC-4661-96BE-DCA4245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E4B8270-F3AC-4998-ACA0-4F9A5FD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1% share supports $11.6M in annual revenue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FB25C17-D8C4-4272-8E39-E4ECCDE9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1.93M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72D4FCFD-933E-401B-984B-6ED34361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target-age students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2DCBF4-1F13-4C36-A1E3-3A215321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$1.16B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C55FD278-9048-48A7-81D2-47A96A8D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illustrative annual TAM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EAE2F6EE-C04F-4FC6-9159-515E8C3C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34D05D0-F9C6-4BB4-BA39-C9486EBD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narrow, then expand distribution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initial wedge is Canadian public-school students ages 9–13. The model excludes private schools, homeschool families and institutional revenue.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7badb28d734c64"/>
          </a:graphicData>
        </a:graphic>
      </p:graphicFrame>
      <p:sp>
        <p:nvSpPr>
          <p:cNvPr id="10" name="market-chart-cover">
            <a:extLst xmlns:a="http://schemas.openxmlformats.org/drawingml/2006/main">
              <a:ext uri="{FF2B5EF4-FFF2-40B4-BE49-F238E27FC236}">
                <a16:creationId xmlns:a16="http://schemas.microsoft.com/office/drawing/2014/main" id="{4E88CA13-D6BD-4F77-8561-5F47919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57300"/>
            <a:ext cx="51435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4953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8868e06ac44115"/>
          </a:graphicData>
        </a:graphic>
      </p:graphicFrame>
    </p:spTree>
    <p:extLst>
      <p:ext uri="{BB962C8B-B14F-4D97-AF65-F5344CB8AC3E}">
        <p14:creationId xmlns:p14="http://schemas.microsoft.com/office/powerpoint/2010/main" val="7806757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465D3CF-9B50-45E7-8793-BC109A7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58D4BB6-BE0E-4D9A-ACD2-FEA308B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growth loop starts with a useful experience, not an ad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C203469-3FCE-4518-9ED1-47CF36C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165B479-8192-4651-AB5B-B410573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16EF09F-691A-4C8A-9858-7B90824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BDB738C-DAAC-451D-A90E-3B2E939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01  ACQUIRE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D4C6BFB-A7FD-4390-96BA-8764E43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02  CONVERT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C9E661D-1528-45CA-A062-0C1925C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03  COMPOUND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3B3EC18-25EA-48D6-BF2C-61CC8883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Attended trial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Instant booking
Automated reminders
Live instructor demo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03CBBF7-7CE8-4A4E-9F00-DBF4EFD8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 workshops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Libraries and schools
Parent councils
Homeschool groups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B7DDAEC-4585-4EDE-A7D4-8C9CB8A7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Term + referral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Paid enrollment
Next curriculum level
Family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680780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BB95F45-562E-4A5D-BC2E-AC3C775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D498C38-6C16-4618-A1D5-81A17DE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unified model creates the advantage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E72E51C-2319-4F1E-AE12-0C7F271B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The advantage is the system—not any single feature.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Competitors may offer content, tutoring or school exposure. KidsLearnAI is designed to connect all four jobs in one learner journey.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competition-table-cover">
            <a:extLst xmlns:a="http://schemas.openxmlformats.org/drawingml/2006/main">
              <a:ext uri="{FF2B5EF4-FFF2-40B4-BE49-F238E27FC236}">
                <a16:creationId xmlns:a16="http://schemas.microsoft.com/office/drawing/2014/main" id="{CFA029C3-A15C-4D99-B0F6-361531E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71700"/>
            <a:ext cx="1152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52625"/>
                <a:gridCol w="1952625"/>
                <a:gridCol w="2047875"/>
                <a:gridCol w="2498693"/>
              </a:tblGrid>
              <a:tr h="611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0F5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Live feedback</a:t>
                      </a:r>
                    </a:p>
                  </a:txBody>
                  <a:tcPr marL="91440" marR="91440" marT="45720" marB="45720">
                    <a:solidFill>
                      <a:srgbClr val="0F5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Responsible AI</a:t>
                      </a:r>
                    </a:p>
                  </a:txBody>
                  <a:tcPr marL="91440" marR="91440" marT="45720" marB="45720">
                    <a:solidFill>
                      <a:srgbClr val="0F5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Multi-year path</a:t>
                      </a:r>
                    </a:p>
                  </a:txBody>
                  <a:tcPr marL="91440" marR="91440" marT="45720" marB="45720">
                    <a:solidFill>
                      <a:srgbClr val="0F5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Integrated platform</a:t>
                      </a:r>
                    </a:p>
                  </a:txBody>
                  <a:tcPr marL="91440" marR="91440" marT="45720" marB="45720">
                    <a:solidFill>
                      <a:srgbClr val="0F538D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Self-paced apps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Usually 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Content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General coding schools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Limited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Sometimes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Varies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Private tutors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Instructor-dependent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School programs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Varies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Emerging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Curriculum-limited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Usually 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538D"/>
                          </a:solidFill>
                        </a:rPr>
                        <a:t>KidsLearnAI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538D"/>
                          </a:solidFill>
                        </a:rPr>
                        <a:t>Small groups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538D"/>
                          </a:solidFill>
                        </a:rPr>
                        <a:t>Core curriculum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538D"/>
                          </a:solidFill>
                        </a:rPr>
                        <a:t>Two years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538D"/>
                          </a:solidFill>
                        </a:rPr>
                        <a:t>Built-in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7058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2A41FC5-9955-4A20-B687-65860C7C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B170C99-489C-4094-9539-25579A07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builder who teaches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AC7A12C-C0F6-42ED-927E-15DBEA3D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0EAA755-4315-4EED-9D0F-ED71B1B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Opeyemi Ojo
Founder &amp; Lead Instructor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product builder translating technical depth into a child-first learning experience. Also creator of Brightwick, a Grades 3–8 learning app.
The defensible layer compounds through curriculum, instructor playbooks, learner data and family trust.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ca33240e4615"/>
          <a:srcRect xmlns:a="http://schemas.openxmlformats.org/drawingml/2006/main" l="12917" t="0" r="129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318092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4E3AD6C-9287-4E2D-8550-D4C642D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Raise CAD $500k to build a repeatable growth engine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E81819E-AE2D-4E18-9C53-2CF8197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538D"/>
                </a:solidFill>
                <a:latin typeface="Helvetica Neue"/>
                <a:ea typeface="Helvetica Neue"/>
                <a:cs typeface="Helvetica Neue"/>
              </a:rPr>
              <a:t>18 months  •  500 paid learners  •  12 trained instructors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 institutional partners  •  ≥55% contribution margin target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Opeyemi Ojo  •  kidslearnai.ca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7C4B066-5F44-4E29-B996-5486E5B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65A8"/>
                </a:solidFill>
                <a:latin typeface="Helvetica Neue"/>
                <a:ea typeface="Helvetica Neue"/>
                <a:cs typeface="Helvetica Neue"/>
              </a:rPr>
              <a:t>PROPOSED PRE-SEED</a:t>
            </a:r>
          </a:p>
        </p:txBody>
      </p:sp>
    </p:spTree>
    <p:extLst>
      <p:ext uri="{BB962C8B-B14F-4D97-AF65-F5344CB8AC3E}">
        <p14:creationId xmlns:p14="http://schemas.microsoft.com/office/powerpoint/2010/main" val="582835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2026-08-03T14:02:22.2920000Z</dcterms:created>
  <dcterms:modified xsi:type="dcterms:W3CDTF">2026-08-03T14:02:22.2920000Z</dcterms:modified>
</coreProperties>
</file>